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1" r:id="rId5"/>
    <p:sldId id="272" r:id="rId6"/>
    <p:sldId id="273" r:id="rId7"/>
    <p:sldId id="274" r:id="rId8"/>
    <p:sldId id="275" r:id="rId9"/>
    <p:sldId id="268" r:id="rId10"/>
    <p:sldId id="270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  <p:embeddedFont>
      <p:font typeface="Times New Roman Bold" panose="02020803070505020304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7" d="100"/>
          <a:sy n="57" d="100"/>
        </p:scale>
        <p:origin x="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954586" y="600899"/>
            <a:ext cx="14120958" cy="1534554"/>
            <a:chOff x="0" y="0"/>
            <a:chExt cx="20421600" cy="22192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421600" cy="2219198"/>
            </a:xfrm>
            <a:custGeom>
              <a:avLst/>
              <a:gdLst/>
              <a:ahLst/>
              <a:cxnLst/>
              <a:rect l="l" t="t" r="r" b="b"/>
              <a:pathLst>
                <a:path w="20421600" h="2219198">
                  <a:moveTo>
                    <a:pt x="0" y="0"/>
                  </a:moveTo>
                  <a:lnTo>
                    <a:pt x="20421600" y="0"/>
                  </a:lnTo>
                  <a:lnTo>
                    <a:pt x="20421600" y="2219198"/>
                  </a:lnTo>
                  <a:lnTo>
                    <a:pt x="0" y="22191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496521" y="0"/>
            <a:ext cx="16821137" cy="3056789"/>
          </a:xfrm>
          <a:custGeom>
            <a:avLst/>
            <a:gdLst/>
            <a:ahLst/>
            <a:cxnLst/>
            <a:rect l="l" t="t" r="r" b="b"/>
            <a:pathLst>
              <a:path w="16821137" h="3051400">
                <a:moveTo>
                  <a:pt x="0" y="0"/>
                </a:moveTo>
                <a:lnTo>
                  <a:pt x="16821137" y="0"/>
                </a:lnTo>
                <a:lnTo>
                  <a:pt x="16821137" y="3051399"/>
                </a:lnTo>
                <a:lnTo>
                  <a:pt x="0" y="3051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61" r="-146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132099" y="3502025"/>
            <a:ext cx="16185559" cy="209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77"/>
              </a:lnSpc>
            </a:pPr>
            <a:r>
              <a:rPr lang="en-IN" sz="6600" b="1" dirty="0"/>
              <a:t>Recursion Tree Method</a:t>
            </a:r>
          </a:p>
          <a:p>
            <a:pPr algn="ctr">
              <a:lnSpc>
                <a:spcPts val="6177"/>
              </a:lnSpc>
            </a:pPr>
            <a:r>
              <a:rPr lang="en-US" sz="2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CSA0606</a:t>
            </a:r>
          </a:p>
          <a:p>
            <a:pPr algn="ctr">
              <a:lnSpc>
                <a:spcPts val="4364"/>
              </a:lnSpc>
            </a:pPr>
            <a:r>
              <a:rPr lang="en-US" sz="2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AND ANALYSIS OF ALGORITHM</a:t>
            </a:r>
            <a:endParaRPr lang="en-US" sz="4041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258800" y="7216821"/>
            <a:ext cx="7799840" cy="2773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3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BY</a:t>
            </a:r>
          </a:p>
          <a:p>
            <a:pPr algn="l">
              <a:lnSpc>
                <a:spcPts val="4548"/>
              </a:lnSpc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VANSH MEHTA – 192411005</a:t>
            </a:r>
          </a:p>
          <a:p>
            <a:pPr algn="l">
              <a:lnSpc>
                <a:spcPts val="4548"/>
              </a:lnSpc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548"/>
              </a:lnSpc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548"/>
              </a:lnSpc>
            </a:pPr>
            <a:endParaRPr lang="en-US" sz="28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-40482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07053" y="1714500"/>
            <a:ext cx="15652297" cy="7899949"/>
            <a:chOff x="0" y="0"/>
            <a:chExt cx="19059711" cy="9619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028231" cy="9078382"/>
            </a:xfrm>
            <a:custGeom>
              <a:avLst/>
              <a:gdLst/>
              <a:ahLst/>
              <a:cxnLst/>
              <a:rect l="l" t="t" r="r" b="b"/>
              <a:pathLst>
                <a:path w="19028231" h="9078382">
                  <a:moveTo>
                    <a:pt x="0" y="0"/>
                  </a:moveTo>
                  <a:lnTo>
                    <a:pt x="19028231" y="0"/>
                  </a:lnTo>
                  <a:lnTo>
                    <a:pt x="19028231" y="9078382"/>
                  </a:lnTo>
                  <a:lnTo>
                    <a:pt x="0" y="90783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31481" y="284165"/>
              <a:ext cx="19028230" cy="933555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US" sz="3600" dirty="0"/>
                <a:t>• Recurrence defines recursive running time</a:t>
              </a:r>
              <a:br>
                <a:rPr lang="en-US" sz="3600" dirty="0"/>
              </a:br>
              <a:r>
                <a:rPr lang="en-US" sz="3600" dirty="0"/>
                <a:t>• Recursion tree expands calls level by level</a:t>
              </a:r>
              <a:br>
                <a:rPr lang="en-US" sz="3600" dirty="0"/>
              </a:br>
              <a:r>
                <a:rPr lang="en-US" sz="3600" dirty="0"/>
                <a:t>• Sum all level costs</a:t>
              </a:r>
            </a:p>
            <a:p>
              <a:r>
                <a:rPr lang="en-IN" sz="3600" b="1" dirty="0"/>
                <a:t>What is Recurrence?</a:t>
              </a:r>
            </a:p>
            <a:p>
              <a:r>
                <a:rPr lang="en-IN" sz="3600" dirty="0"/>
                <a:t>A recurrence relation defines the running time of a recursive algorithm.</a:t>
              </a:r>
            </a:p>
            <a:p>
              <a:r>
                <a:rPr lang="en-IN" sz="3600" dirty="0"/>
                <a:t>The </a:t>
              </a:r>
              <a:r>
                <a:rPr lang="en-IN" sz="3600" b="1" dirty="0"/>
                <a:t>Recursion Tree Method</a:t>
              </a:r>
              <a:r>
                <a:rPr lang="en-IN" sz="3600" dirty="0"/>
                <a:t> solves a recurrence by:</a:t>
              </a:r>
            </a:p>
            <a:p>
              <a:r>
                <a:rPr lang="en-IN" sz="3600" dirty="0"/>
                <a:t>Expanding recursive calls into a tree. </a:t>
              </a:r>
            </a:p>
            <a:p>
              <a:r>
                <a:rPr lang="en-IN" sz="3600" dirty="0"/>
                <a:t>Finding the cost at each level. </a:t>
              </a:r>
            </a:p>
            <a:p>
              <a:r>
                <a:rPr lang="en-IN" sz="3600" dirty="0"/>
                <a:t>Adding all level costs. </a:t>
              </a:r>
            </a:p>
            <a:p>
              <a:r>
                <a:rPr lang="en-IN" sz="3600" dirty="0"/>
                <a:t>Determining the total time complexity. </a:t>
              </a:r>
            </a:p>
            <a:p>
              <a:r>
                <a:rPr lang="en-IN" sz="3600" b="1" dirty="0"/>
                <a:t>Applications</a:t>
              </a:r>
            </a:p>
            <a:p>
              <a:r>
                <a:rPr lang="en-IN" sz="3600" dirty="0"/>
                <a:t>Merge Sort </a:t>
              </a:r>
            </a:p>
            <a:p>
              <a:r>
                <a:rPr lang="en-IN" sz="3600" dirty="0"/>
                <a:t>Quick Sort </a:t>
              </a:r>
            </a:p>
            <a:p>
              <a:r>
                <a:rPr lang="en-IN" sz="3600" dirty="0"/>
                <a:t>Divide and Conquer Algorithms</a:t>
              </a: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230600" y="9048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-40482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 STATEMENT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62000" y="3467100"/>
            <a:ext cx="16840200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defRPr sz="2000"/>
            </a:pPr>
            <a:r>
              <a:rPr lang="en-US" sz="3600" dirty="0"/>
              <a:t>Given T(n)=4T(n/2)+n</a:t>
            </a:r>
          </a:p>
          <a:p>
            <a:pPr>
              <a:defRPr sz="2000"/>
            </a:pPr>
            <a:endParaRPr lang="en-US" sz="3600" dirty="0"/>
          </a:p>
          <a:p>
            <a:pPr>
              <a:defRPr sz="2000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  <a:defRPr sz="2000"/>
            </a:pPr>
            <a:r>
              <a:rPr lang="en-US" sz="3600" dirty="0"/>
              <a:t>Construct recursion tree,</a:t>
            </a:r>
          </a:p>
          <a:p>
            <a:pPr marL="571500" indent="-571500">
              <a:buFont typeface="Arial" panose="020B0604020202020204" pitchFamily="34" charset="0"/>
              <a:buChar char="•"/>
              <a:defRPr sz="2000"/>
            </a:pPr>
            <a:r>
              <a:rPr lang="en-US" sz="3600" dirty="0"/>
              <a:t> compute each level cost,</a:t>
            </a:r>
          </a:p>
          <a:p>
            <a:pPr marL="571500" indent="-571500">
              <a:buFont typeface="Arial" panose="020B0604020202020204" pitchFamily="34" charset="0"/>
              <a:buChar char="•"/>
              <a:defRPr sz="2000"/>
            </a:pPr>
            <a:r>
              <a:rPr lang="en-US" sz="3600" dirty="0"/>
              <a:t> find total complexity and compare with Master Theorem.</a:t>
            </a:r>
          </a:p>
        </p:txBody>
      </p:sp>
      <p:sp>
        <p:nvSpPr>
          <p:cNvPr id="6" name="Freeform 6"/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230600" y="10953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-40482"/>
            <a:ext cx="15773400" cy="1988345"/>
            <a:chOff x="0" y="0"/>
            <a:chExt cx="21031200" cy="26511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ALGORITHM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230600" y="10953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47800" y="2781300"/>
            <a:ext cx="17234482" cy="6647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RecursionTree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(n)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 == 1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1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problem into 4 subproblems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 each subproblem recursively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results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total cost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4EEE25D-9CAB-1589-F1EE-2AD81A76BAE1}"/>
              </a:ext>
            </a:extLst>
          </p:cNvPr>
          <p:cNvGrpSpPr/>
          <p:nvPr/>
        </p:nvGrpSpPr>
        <p:grpSpPr>
          <a:xfrm>
            <a:off x="1028700" y="495300"/>
            <a:ext cx="15954375" cy="2255645"/>
            <a:chOff x="0" y="714376"/>
            <a:chExt cx="21272500" cy="30075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F542D04-2D15-FA2B-B47B-FAE9E24777EB}"/>
                </a:ext>
              </a:extLst>
            </p:cNvPr>
            <p:cNvSpPr/>
            <p:nvPr/>
          </p:nvSpPr>
          <p:spPr>
            <a:xfrm>
              <a:off x="241300" y="714376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246332C-1C7F-0152-FC4F-9D0FBF2B0E5D}"/>
                </a:ext>
              </a:extLst>
            </p:cNvPr>
            <p:cNvSpPr txBox="1"/>
            <p:nvPr/>
          </p:nvSpPr>
          <p:spPr>
            <a:xfrm>
              <a:off x="0" y="1108876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Architecure</a:t>
              </a:r>
              <a:r>
                <a:rPr lang="en-US" sz="66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Diagram</a:t>
              </a: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5BC6D97-8F02-FC21-B771-D033EEF019A8}"/>
              </a:ext>
            </a:extLst>
          </p:cNvPr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57EFADC-B591-57C9-A636-8FE571C69A53}"/>
              </a:ext>
            </a:extLst>
          </p:cNvPr>
          <p:cNvSpPr/>
          <p:nvPr/>
        </p:nvSpPr>
        <p:spPr>
          <a:xfrm>
            <a:off x="16230600" y="10953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1783A38-13BE-092D-1490-BC800CD4F72F}"/>
              </a:ext>
            </a:extLst>
          </p:cNvPr>
          <p:cNvSpPr txBox="1"/>
          <p:nvPr/>
        </p:nvSpPr>
        <p:spPr>
          <a:xfrm>
            <a:off x="1246118" y="3434239"/>
            <a:ext cx="17234482" cy="609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T(n)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Cost = 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/    |    |    \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T(n/2) T(n/2) T(n/2) T(n/2) 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child cost = n/2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/|\...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16 nodes of T(n/4)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node cost = n/4</a:t>
            </a:r>
          </a:p>
        </p:txBody>
      </p:sp>
    </p:spTree>
    <p:extLst>
      <p:ext uri="{BB962C8B-B14F-4D97-AF65-F5344CB8AC3E}">
        <p14:creationId xmlns:p14="http://schemas.microsoft.com/office/powerpoint/2010/main" val="2828290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CBB7FB-3EC8-897C-E7C1-050FDDE64E97}"/>
              </a:ext>
            </a:extLst>
          </p:cNvPr>
          <p:cNvGrpSpPr/>
          <p:nvPr/>
        </p:nvGrpSpPr>
        <p:grpSpPr>
          <a:xfrm>
            <a:off x="1449458" y="-460635"/>
            <a:ext cx="17295741" cy="2408498"/>
            <a:chOff x="228583" y="-546670"/>
            <a:chExt cx="23060989" cy="321133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6AC5920-E3E2-1ABE-475A-1EFD3199AC33}"/>
                </a:ext>
              </a:extLst>
            </p:cNvPr>
            <p:cNvSpPr/>
            <p:nvPr/>
          </p:nvSpPr>
          <p:spPr>
            <a:xfrm>
              <a:off x="2258372" y="-54667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2FFD8EF-DFC0-CA7E-824A-5ABB73FFAC20}"/>
                </a:ext>
              </a:extLst>
            </p:cNvPr>
            <p:cNvSpPr txBox="1"/>
            <p:nvPr/>
          </p:nvSpPr>
          <p:spPr>
            <a:xfrm>
              <a:off x="228583" y="51634"/>
              <a:ext cx="21031200" cy="26130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IMPLEMENTATION</a:t>
              </a: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B614F195-A77A-9168-B103-281FEA4EF204}"/>
              </a:ext>
            </a:extLst>
          </p:cNvPr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865E190-2EEE-F542-724E-CCF7219FBBE1}"/>
              </a:ext>
            </a:extLst>
          </p:cNvPr>
          <p:cNvSpPr/>
          <p:nvPr/>
        </p:nvSpPr>
        <p:spPr>
          <a:xfrm>
            <a:off x="16227287" y="189973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9473A30-E3DB-31BD-9A3B-99410C288416}"/>
              </a:ext>
            </a:extLst>
          </p:cNvPr>
          <p:cNvSpPr txBox="1"/>
          <p:nvPr/>
        </p:nvSpPr>
        <p:spPr>
          <a:xfrm>
            <a:off x="3200400" y="2047348"/>
            <a:ext cx="5029200" cy="775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#include&lt;stdio.h&gt;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T(int n)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if(n&lt;=1)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1;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4*T(n/2)+n;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d",T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(8));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9972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ACAE3C7-C9E4-224D-B920-BF5C1019A742}"/>
              </a:ext>
            </a:extLst>
          </p:cNvPr>
          <p:cNvGrpSpPr/>
          <p:nvPr/>
        </p:nvGrpSpPr>
        <p:grpSpPr>
          <a:xfrm>
            <a:off x="874642" y="88003"/>
            <a:ext cx="16108433" cy="2395642"/>
            <a:chOff x="-205411" y="171313"/>
            <a:chExt cx="21477911" cy="319418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DBB2917-11F3-A52F-4E59-1CE2314E1D34}"/>
                </a:ext>
              </a:extLst>
            </p:cNvPr>
            <p:cNvSpPr/>
            <p:nvPr/>
          </p:nvSpPr>
          <p:spPr>
            <a:xfrm>
              <a:off x="241300" y="714376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F111038-595C-7257-648D-2B7A1F9917E9}"/>
                </a:ext>
              </a:extLst>
            </p:cNvPr>
            <p:cNvSpPr txBox="1"/>
            <p:nvPr/>
          </p:nvSpPr>
          <p:spPr>
            <a:xfrm>
              <a:off x="-205411" y="171313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OUTPUT</a:t>
              </a: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3376896-093F-F1A2-F96F-95973D48E41D}"/>
              </a:ext>
            </a:extLst>
          </p:cNvPr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D784606-CF83-C8CC-C57B-4CCD837AB238}"/>
              </a:ext>
            </a:extLst>
          </p:cNvPr>
          <p:cNvSpPr/>
          <p:nvPr/>
        </p:nvSpPr>
        <p:spPr>
          <a:xfrm>
            <a:off x="16230600" y="10953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8438DD-083B-56F5-3138-9012513B0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2333625"/>
            <a:ext cx="14782799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3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06967B-B9AB-04B6-7AC5-18B57A2CCE4E}"/>
              </a:ext>
            </a:extLst>
          </p:cNvPr>
          <p:cNvGrpSpPr/>
          <p:nvPr/>
        </p:nvGrpSpPr>
        <p:grpSpPr>
          <a:xfrm>
            <a:off x="1012135" y="328912"/>
            <a:ext cx="15970940" cy="2154733"/>
            <a:chOff x="-22087" y="492525"/>
            <a:chExt cx="21294587" cy="287297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4E5C85-7950-B58F-116E-E24D0B05D43E}"/>
                </a:ext>
              </a:extLst>
            </p:cNvPr>
            <p:cNvSpPr/>
            <p:nvPr/>
          </p:nvSpPr>
          <p:spPr>
            <a:xfrm>
              <a:off x="241300" y="714376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188BAFD-1CF8-F58F-524C-F62A02DB052F}"/>
                </a:ext>
              </a:extLst>
            </p:cNvPr>
            <p:cNvSpPr txBox="1"/>
            <p:nvPr/>
          </p:nvSpPr>
          <p:spPr>
            <a:xfrm>
              <a:off x="-22087" y="492525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/>
              <a:r>
                <a:rPr lang="en-U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COMPLEXITY ANALYSIS</a:t>
              </a:r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1EBA121-D574-04A6-1987-A454614572A0}"/>
              </a:ext>
            </a:extLst>
          </p:cNvPr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897222C-6415-839C-92C7-66DD7F6D6B48}"/>
              </a:ext>
            </a:extLst>
          </p:cNvPr>
          <p:cNvSpPr/>
          <p:nvPr/>
        </p:nvSpPr>
        <p:spPr>
          <a:xfrm>
            <a:off x="16230600" y="10953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CB981064-E02A-96F3-B343-5E971BD9D67F}"/>
                  </a:ext>
                </a:extLst>
              </p:cNvPr>
              <p:cNvSpPr txBox="1"/>
              <p:nvPr/>
            </p:nvSpPr>
            <p:spPr>
              <a:xfrm>
                <a:off x="1012135" y="2455070"/>
                <a:ext cx="17234482" cy="681423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r>
                  <a:rPr lang="en-IN" sz="3600" b="1" dirty="0"/>
                  <a:t>Cost at each level</a:t>
                </a:r>
              </a:p>
              <a:p>
                <a:r>
                  <a:rPr lang="en-IN" sz="3600" dirty="0"/>
                  <a:t>Level 0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3600" dirty="0"/>
              </a:p>
              <a:p>
                <a:r>
                  <a:rPr lang="en-IN" sz="3600" dirty="0"/>
                  <a:t>Level 1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/>
                        <m:t>4×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i="1"/>
                            <m:t>𝑛</m:t>
                          </m:r>
                        </m:num>
                        <m:den>
                          <m:r>
                            <a:rPr lang="en-IN"/>
                            <m:t>2</m:t>
                          </m:r>
                        </m:den>
                      </m:f>
                      <m:r>
                        <a:rPr lang="en-IN"/>
                        <m:t>=2</m:t>
                      </m:r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3600" dirty="0"/>
              </a:p>
              <a:p>
                <a:r>
                  <a:rPr lang="en-IN" sz="3600" dirty="0"/>
                  <a:t>Level 2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/>
                        <m:t>16×</m:t>
                      </m:r>
                      <m:f>
                        <m:fPr>
                          <m:ctrlPr>
                            <a:rPr lang="en-IN" i="1"/>
                          </m:ctrlPr>
                        </m:fPr>
                        <m:num>
                          <m:r>
                            <a:rPr lang="en-IN" i="1"/>
                            <m:t>𝑛</m:t>
                          </m:r>
                        </m:num>
                        <m:den>
                          <m:r>
                            <a:rPr lang="en-IN"/>
                            <m:t>4</m:t>
                          </m:r>
                        </m:den>
                      </m:f>
                      <m:r>
                        <a:rPr lang="en-IN"/>
                        <m:t>=4</m:t>
                      </m:r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3600" dirty="0"/>
              </a:p>
              <a:p>
                <a:r>
                  <a:rPr lang="en-IN" sz="3600" dirty="0"/>
                  <a:t>Level k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/>
                          </m:ctrlPr>
                        </m:sSupPr>
                        <m:e>
                          <m:r>
                            <a:rPr lang="en-IN"/>
                            <m:t>2</m:t>
                          </m:r>
                        </m:e>
                        <m:sup>
                          <m:r>
                            <a:rPr lang="en-IN" i="1"/>
                            <m:t>𝑘</m:t>
                          </m:r>
                        </m:sup>
                      </m:sSup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3600" dirty="0"/>
              </a:p>
              <a:p>
                <a:r>
                  <a:rPr lang="en-IN" sz="3600" dirty="0"/>
                  <a:t>Height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/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IN"/>
                            <m:t>log</m:t>
                          </m:r>
                        </m:e>
                        <m:sub>
                          <m:r>
                            <a:rPr lang="en-IN"/>
                            <m:t>2</m:t>
                          </m:r>
                        </m:sub>
                      </m:sSub>
                      <m:r>
                        <a:rPr lang="en-IN" i="1"/>
                        <m:t>𝑛</m:t>
                      </m:r>
                    </m:oMath>
                  </m:oMathPara>
                </a14:m>
                <a:endParaRPr lang="en-IN" sz="3600" dirty="0"/>
              </a:p>
              <a:p>
                <a:r>
                  <a:rPr lang="en-IN" sz="3600" dirty="0"/>
                  <a:t>Total Cost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𝑛</m:t>
                      </m:r>
                      <m:r>
                        <a:rPr lang="en-IN"/>
                        <m:t>+2</m:t>
                      </m:r>
                      <m:r>
                        <a:rPr lang="en-IN" i="1"/>
                        <m:t>𝑛</m:t>
                      </m:r>
                      <m:r>
                        <a:rPr lang="en-IN"/>
                        <m:t>+4</m:t>
                      </m:r>
                      <m:r>
                        <a:rPr lang="en-IN" i="1"/>
                        <m:t>𝑛</m:t>
                      </m:r>
                      <m:r>
                        <a:rPr lang="en-IN"/>
                        <m:t>+⋯+</m:t>
                      </m:r>
                      <m:sSup>
                        <m:sSupPr>
                          <m:ctrlPr>
                            <a:rPr lang="en-IN" i="1"/>
                          </m:ctrlPr>
                        </m:sSupPr>
                        <m:e>
                          <m:r>
                            <a:rPr lang="en-IN" i="1"/>
                            <m:t>𝑛</m:t>
                          </m:r>
                        </m:e>
                        <m:sup>
                          <m:r>
                            <a:rPr lang="en-IN"/>
                            <m:t>2</m:t>
                          </m:r>
                        </m:sup>
                      </m:sSup>
                    </m:oMath>
                  </m:oMathPara>
                </a14:m>
                <a:endParaRPr lang="en-IN" sz="3600" dirty="0"/>
              </a:p>
              <a:p>
                <a:r>
                  <a:rPr lang="en-IN" sz="3600" dirty="0"/>
                  <a:t>Using GP Sum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𝑇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r>
                            <a:rPr lang="en-IN" i="1"/>
                            <m:t>𝑛</m:t>
                          </m:r>
                        </m:e>
                      </m:d>
                      <m:r>
                        <a:rPr lang="en-IN"/>
                        <m:t>=</m:t>
                      </m:r>
                      <m:r>
                        <a:rPr lang="en-IN" i="1"/>
                        <m:t>𝑂</m:t>
                      </m:r>
                      <m:d>
                        <m:dPr>
                          <m:ctrlPr>
                            <a:rPr lang="en-IN" i="1"/>
                          </m:ctrlPr>
                        </m:dPr>
                        <m:e>
                          <m:sSup>
                            <m:sSupPr>
                              <m:ctrlPr>
                                <a:rPr lang="en-IN" i="1"/>
                              </m:ctrlPr>
                            </m:sSupPr>
                            <m:e>
                              <m:r>
                                <a:rPr lang="en-IN" i="1"/>
                                <m:t>𝑛</m:t>
                              </m:r>
                            </m:e>
                            <m:sup>
                              <m:r>
                                <a:rPr lang="en-IN"/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3600" dirty="0"/>
              </a:p>
            </p:txBody>
          </p:sp>
        </mc:Choice>
        <mc:Fallback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CB981064-E02A-96F3-B343-5E971BD9D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135" y="2455070"/>
                <a:ext cx="17234482" cy="6814238"/>
              </a:xfrm>
              <a:prstGeom prst="rect">
                <a:avLst/>
              </a:prstGeom>
              <a:blipFill>
                <a:blip r:embed="rId4"/>
                <a:stretch>
                  <a:fillRect l="-1592" t="-20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83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5704" y="-1050770"/>
            <a:ext cx="15796591" cy="2998633"/>
            <a:chOff x="0" y="-1347050"/>
            <a:chExt cx="21062121" cy="3998176"/>
          </a:xfrm>
        </p:grpSpPr>
        <p:sp>
          <p:nvSpPr>
            <p:cNvPr id="3" name="Freeform 3"/>
            <p:cNvSpPr/>
            <p:nvPr/>
          </p:nvSpPr>
          <p:spPr>
            <a:xfrm>
              <a:off x="30921" y="-134705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21031200" cy="2613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128"/>
                </a:lnSpc>
              </a:pPr>
              <a:r>
                <a:rPr lang="en-US" sz="6600" b="1" dirty="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CONCLUSION AND  RESULT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9200" y="2171700"/>
            <a:ext cx="18643787" cy="7054738"/>
            <a:chOff x="0" y="-541452"/>
            <a:chExt cx="24858383" cy="9406318"/>
          </a:xfrm>
        </p:grpSpPr>
        <p:sp>
          <p:nvSpPr>
            <p:cNvPr id="6" name="Freeform 6"/>
            <p:cNvSpPr/>
            <p:nvPr/>
          </p:nvSpPr>
          <p:spPr>
            <a:xfrm>
              <a:off x="1354791" y="-541452"/>
              <a:ext cx="23503592" cy="8864866"/>
            </a:xfrm>
            <a:custGeom>
              <a:avLst/>
              <a:gdLst/>
              <a:ahLst/>
              <a:cxnLst/>
              <a:rect l="l" t="t" r="r" b="b"/>
              <a:pathLst>
                <a:path w="23503592" h="8864866">
                  <a:moveTo>
                    <a:pt x="0" y="0"/>
                  </a:moveTo>
                  <a:lnTo>
                    <a:pt x="23503592" y="0"/>
                  </a:lnTo>
                  <a:lnTo>
                    <a:pt x="23503592" y="8864866"/>
                  </a:lnTo>
                  <a:lnTo>
                    <a:pt x="0" y="88648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7"/>
                <p:cNvSpPr txBox="1"/>
                <p:nvPr/>
              </p:nvSpPr>
              <p:spPr>
                <a:xfrm>
                  <a:off x="0" y="-38100"/>
                  <a:ext cx="23503591" cy="8902966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r>
                    <a:rPr lang="en-IN" sz="3600" b="1" dirty="0"/>
                    <a:t>Conclusion</a:t>
                  </a:r>
                </a:p>
                <a:p>
                  <a:r>
                    <a:rPr lang="en-IN" sz="3600" dirty="0"/>
                    <a:t>Recursion Tree expands recursive calls level by level. </a:t>
                  </a:r>
                </a:p>
                <a:p>
                  <a:r>
                    <a:rPr lang="en-IN" sz="3600" dirty="0"/>
                    <a:t>Total cost is obtained by summing all levels. </a:t>
                  </a:r>
                </a:p>
                <a:p>
                  <a:r>
                    <a:rPr lang="en-IN" sz="3600" dirty="0"/>
                    <a:t>Complexity is </a:t>
                  </a: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borderBox>
                          <m:borderBoxPr>
                            <m:ctrlPr>
                              <a:rPr lang="en-IN"/>
                            </m:ctrlPr>
                          </m:borderBoxPr>
                          <m:e>
                            <m:r>
                              <m:rPr>
                                <m:sty m:val="p"/>
                              </m:rPr>
                              <a:rPr lang="en-IN"/>
                              <m:t>Θ</m:t>
                            </m:r>
                            <m:d>
                              <m:dPr>
                                <m:ctrlPr>
                                  <a:rPr lang="en-IN" i="1"/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IN" i="1"/>
                                    </m:ctrlPr>
                                  </m:sSupPr>
                                  <m:e>
                                    <m:r>
                                      <a:rPr lang="en-IN" i="1"/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/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borderBox>
                      </m:oMath>
                    </m:oMathPara>
                  </a14:m>
                  <a:endParaRPr lang="en-IN" sz="3600" dirty="0"/>
                </a:p>
                <a:p>
                  <a:r>
                    <a:rPr lang="en-IN" sz="3600" dirty="0"/>
                    <a:t>Master Theorem confirms the same complexity. </a:t>
                  </a:r>
                </a:p>
                <a:p>
                  <a:r>
                    <a:rPr lang="en-IN" sz="3600" b="1" dirty="0"/>
                    <a:t>References</a:t>
                  </a:r>
                </a:p>
                <a:p>
                  <a:r>
                    <a:rPr lang="en-IN" sz="3600" dirty="0"/>
                    <a:t>Thomas H. </a:t>
                  </a:r>
                  <a:r>
                    <a:rPr lang="en-IN" sz="3600" dirty="0" err="1"/>
                    <a:t>Cormen</a:t>
                  </a:r>
                  <a:r>
                    <a:rPr lang="en-IN" sz="3600" dirty="0"/>
                    <a:t> et al., </a:t>
                  </a:r>
                  <a:r>
                    <a:rPr lang="en-IN" sz="3600" i="1" dirty="0"/>
                    <a:t>Introduction to Algorithms (CLRS)</a:t>
                  </a:r>
                  <a:r>
                    <a:rPr lang="en-IN" sz="3600" dirty="0"/>
                    <a:t>. </a:t>
                  </a:r>
                </a:p>
                <a:p>
                  <a:r>
                    <a:rPr lang="en-IN" sz="3600" dirty="0"/>
                    <a:t>Anany Levitin, </a:t>
                  </a:r>
                  <a:r>
                    <a:rPr lang="en-IN" sz="3600" i="1" dirty="0"/>
                    <a:t>Introduction to the Design and Analysis of Algorithms</a:t>
                  </a:r>
                  <a:r>
                    <a:rPr lang="en-IN" sz="3600" dirty="0"/>
                    <a:t>. </a:t>
                  </a:r>
                </a:p>
                <a:p>
                  <a:r>
                    <a:rPr lang="en-IN" sz="3600" dirty="0"/>
                    <a:t>Course Notes.</a:t>
                  </a:r>
                </a:p>
              </p:txBody>
            </p:sp>
          </mc:Choice>
          <mc:Fallback>
            <p:sp>
              <p:nvSpPr>
                <p:cNvPr id="7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-38100"/>
                  <a:ext cx="23503591" cy="8902966"/>
                </a:xfrm>
                <a:prstGeom prst="rect">
                  <a:avLst/>
                </a:prstGeom>
                <a:blipFill>
                  <a:blip r:embed="rId2"/>
                  <a:stretch>
                    <a:fillRect l="-155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Freeform 8"/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52" b="-467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002000" y="0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5"/>
                </a:lnTo>
                <a:lnTo>
                  <a:pt x="0" y="1857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1794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8740" y="4291777"/>
            <a:ext cx="15590520" cy="104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76"/>
              </a:lnSpc>
            </a:pPr>
            <a:r>
              <a:rPr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95250" y="109538"/>
            <a:ext cx="1866900" cy="1838325"/>
          </a:xfrm>
          <a:custGeom>
            <a:avLst/>
            <a:gdLst/>
            <a:ahLst/>
            <a:cxnLst/>
            <a:rect l="l" t="t" r="r" b="b"/>
            <a:pathLst>
              <a:path w="1866900" h="1838325">
                <a:moveTo>
                  <a:pt x="0" y="0"/>
                </a:moveTo>
                <a:lnTo>
                  <a:pt x="1866900" y="0"/>
                </a:lnTo>
                <a:lnTo>
                  <a:pt x="1866900" y="1838324"/>
                </a:lnTo>
                <a:lnTo>
                  <a:pt x="0" y="1838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652" b="-467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230600" y="109538"/>
            <a:ext cx="2057400" cy="1857375"/>
          </a:xfrm>
          <a:custGeom>
            <a:avLst/>
            <a:gdLst/>
            <a:ahLst/>
            <a:cxnLst/>
            <a:rect l="l" t="t" r="r" b="b"/>
            <a:pathLst>
              <a:path w="2057400" h="1857375">
                <a:moveTo>
                  <a:pt x="0" y="0"/>
                </a:moveTo>
                <a:lnTo>
                  <a:pt x="2057400" y="0"/>
                </a:lnTo>
                <a:lnTo>
                  <a:pt x="2057400" y="1857374"/>
                </a:lnTo>
                <a:lnTo>
                  <a:pt x="0" y="18573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179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396</Words>
  <Application>Microsoft Office PowerPoint</Application>
  <PresentationFormat>Custom</PresentationFormat>
  <Paragraphs>98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Times New Roman</vt:lpstr>
      <vt:lpstr>Arial Bold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MATH.pptx</dc:title>
  <dc:creator>HRJ</dc:creator>
  <cp:lastModifiedBy>Vansh Mehta</cp:lastModifiedBy>
  <cp:revision>10</cp:revision>
  <dcterms:created xsi:type="dcterms:W3CDTF">2006-08-16T00:00:00Z</dcterms:created>
  <dcterms:modified xsi:type="dcterms:W3CDTF">2026-07-21T18:04:18Z</dcterms:modified>
  <dc:identifier>DAGzEOA--vo</dc:identifier>
</cp:coreProperties>
</file>